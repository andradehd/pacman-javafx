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ricolage Grotesque Extra Bold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319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Lucas Andrade 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32769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Pac-Man JavaFX – Modificações Visuais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0346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jornada técnica para revitalizar um clássico.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37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727" y="526137"/>
            <a:ext cx="4784050" cy="597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Objetivo do Projeto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69727" y="1411010"/>
            <a:ext cx="7804547" cy="91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Nosso foco era exclusivo na 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renderização visual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Pac-Man em JavaFX, sem comprometer a lógica de jogo original. Buscávamos inovações puramente estéticas.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69727" y="2544604"/>
            <a:ext cx="7804547" cy="1148239"/>
          </a:xfrm>
          <a:prstGeom prst="roundRect">
            <a:avLst>
              <a:gd name="adj" fmla="val 9556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6867" y="2544604"/>
            <a:ext cx="91440" cy="1148239"/>
          </a:xfrm>
          <a:prstGeom prst="roundRect">
            <a:avLst>
              <a:gd name="adj" fmla="val 87897"/>
            </a:avLst>
          </a:prstGeom>
          <a:solidFill>
            <a:srgbClr val="EEAEF6"/>
          </a:solidFill>
          <a:ln/>
        </p:spPr>
      </p:sp>
      <p:sp>
        <p:nvSpPr>
          <p:cNvPr id="7" name="Text 4"/>
          <p:cNvSpPr/>
          <p:nvPr/>
        </p:nvSpPr>
        <p:spPr>
          <a:xfrm>
            <a:off x="952500" y="2758797"/>
            <a:ext cx="239196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Pac-Man Azul Claro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52500" y="3172539"/>
            <a:ext cx="7307580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Dando um toque moderno ao nosso herói.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69727" y="3884176"/>
            <a:ext cx="7804547" cy="1148239"/>
          </a:xfrm>
          <a:prstGeom prst="roundRect">
            <a:avLst>
              <a:gd name="adj" fmla="val 9556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867" y="3884176"/>
            <a:ext cx="91440" cy="1148239"/>
          </a:xfrm>
          <a:prstGeom prst="roundRect">
            <a:avLst>
              <a:gd name="adj" fmla="val 87897"/>
            </a:avLst>
          </a:prstGeom>
          <a:solidFill>
            <a:srgbClr val="EEAEF6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4098369"/>
            <a:ext cx="245078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Fantasmas Piscando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52500" y="4512112"/>
            <a:ext cx="7307580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Adicionando dinamismo com um efeito visual constante.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69727" y="5223748"/>
            <a:ext cx="7804547" cy="1148239"/>
          </a:xfrm>
          <a:prstGeom prst="roundRect">
            <a:avLst>
              <a:gd name="adj" fmla="val 9556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6867" y="5223748"/>
            <a:ext cx="91440" cy="1148239"/>
          </a:xfrm>
          <a:prstGeom prst="roundRect">
            <a:avLst>
              <a:gd name="adj" fmla="val 87897"/>
            </a:avLst>
          </a:prstGeom>
          <a:solidFill>
            <a:srgbClr val="EEAEF6"/>
          </a:solidFill>
          <a:ln/>
        </p:spPr>
      </p:sp>
      <p:sp>
        <p:nvSpPr>
          <p:cNvPr id="15" name="Text 12"/>
          <p:cNvSpPr/>
          <p:nvPr/>
        </p:nvSpPr>
        <p:spPr>
          <a:xfrm>
            <a:off x="952500" y="5437942"/>
            <a:ext cx="375380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Fantasmas Semi-Transparentes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52500" y="5851684"/>
            <a:ext cx="7307580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Criando uma estética etérea e mais "fantasmagórica".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69727" y="6563320"/>
            <a:ext cx="7804547" cy="1148239"/>
          </a:xfrm>
          <a:prstGeom prst="roundRect">
            <a:avLst>
              <a:gd name="adj" fmla="val 9556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6867" y="6563320"/>
            <a:ext cx="91440" cy="1148239"/>
          </a:xfrm>
          <a:prstGeom prst="roundRect">
            <a:avLst>
              <a:gd name="adj" fmla="val 87897"/>
            </a:avLst>
          </a:prstGeom>
          <a:solidFill>
            <a:srgbClr val="EEAEF6"/>
          </a:solidFill>
          <a:ln/>
        </p:spPr>
      </p:sp>
      <p:sp>
        <p:nvSpPr>
          <p:cNvPr id="19" name="Text 16"/>
          <p:cNvSpPr/>
          <p:nvPr/>
        </p:nvSpPr>
        <p:spPr>
          <a:xfrm>
            <a:off x="952500" y="6777514"/>
            <a:ext cx="239196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Base para Futuro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952500" y="7191256"/>
            <a:ext cx="7307580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Preparando o terreno para modos como Dark/Neon.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124" y="482560"/>
            <a:ext cx="7348776" cy="54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Arquivo Editado: O Coração Visual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14124" y="1381839"/>
            <a:ext cx="13402151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Todas as modificações foram concentradas em um único local, garantindo um desenvolvimento modular e fácil manutenção.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14124" y="2035373"/>
            <a:ext cx="399573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ArcadePacMan_Actor_Renderer.java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14124" y="2484834"/>
            <a:ext cx="7178516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Localização estratégica para controle visual: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4124" y="2923461"/>
            <a:ext cx="7178516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pacman-app-arcade-pacman/src/main/java/de/amr/pacmanfx/arcade/pacman/rendering/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4124" y="3658076"/>
            <a:ext cx="7178516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Desenha Pac-Man, fantasmas e bônus.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4124" y="4000143"/>
            <a:ext cx="7178516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Controla efeitos visuais.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4124" y="4342209"/>
            <a:ext cx="7178516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Gerencia sprites e animações.</a:t>
            </a:r>
            <a:endParaRPr lang="en-US" sz="13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8409" y="2057400"/>
            <a:ext cx="5795486" cy="579548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4124" y="8247698"/>
            <a:ext cx="13402151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arquivo é o pilar da representação gráfica dos elementos do jogo.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540" y="584359"/>
            <a:ext cx="11850172" cy="628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Comportamento Original: Simplicidade Clássica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3540" y="1614607"/>
            <a:ext cx="13223319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renderer original priorizava a funcionalidade sobre a estética, fiel à sua essência clássica.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3540" y="2162413"/>
            <a:ext cx="1652826" cy="1158359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</p:sp>
      <p:sp>
        <p:nvSpPr>
          <p:cNvPr id="5" name="Text 3"/>
          <p:cNvSpPr/>
          <p:nvPr/>
        </p:nvSpPr>
        <p:spPr>
          <a:xfrm>
            <a:off x="1388626" y="2564844"/>
            <a:ext cx="282654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57343" y="2363391"/>
            <a:ext cx="251293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Carregava Sprite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557343" y="2798088"/>
            <a:ext cx="2918222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Apenas exibia o gráfico atual.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2456855" y="3311247"/>
            <a:ext cx="11369516" cy="11430"/>
          </a:xfrm>
          <a:prstGeom prst="roundRect">
            <a:avLst>
              <a:gd name="adj" fmla="val 738745"/>
            </a:avLst>
          </a:prstGeom>
          <a:solidFill>
            <a:srgbClr val="414677"/>
          </a:solidFill>
          <a:ln/>
        </p:spPr>
      </p:sp>
      <p:sp>
        <p:nvSpPr>
          <p:cNvPr id="9" name="Shape 7"/>
          <p:cNvSpPr/>
          <p:nvPr/>
        </p:nvSpPr>
        <p:spPr>
          <a:xfrm>
            <a:off x="703540" y="3421261"/>
            <a:ext cx="3305770" cy="1158359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</p:sp>
      <p:sp>
        <p:nvSpPr>
          <p:cNvPr id="10" name="Text 8"/>
          <p:cNvSpPr/>
          <p:nvPr/>
        </p:nvSpPr>
        <p:spPr>
          <a:xfrm>
            <a:off x="2215039" y="3823692"/>
            <a:ext cx="282654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10288" y="3622238"/>
            <a:ext cx="251293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Desenho Simples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210288" y="4056936"/>
            <a:ext cx="480345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efeitos complexos em Pac-Man/fantasmas.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09799" y="4570095"/>
            <a:ext cx="9716572" cy="11430"/>
          </a:xfrm>
          <a:prstGeom prst="roundRect">
            <a:avLst>
              <a:gd name="adj" fmla="val 738745"/>
            </a:avLst>
          </a:prstGeom>
          <a:solidFill>
            <a:srgbClr val="414677"/>
          </a:solidFill>
          <a:ln/>
        </p:spPr>
      </p:sp>
      <p:sp>
        <p:nvSpPr>
          <p:cNvPr id="14" name="Shape 12"/>
          <p:cNvSpPr/>
          <p:nvPr/>
        </p:nvSpPr>
        <p:spPr>
          <a:xfrm>
            <a:off x="703540" y="4680109"/>
            <a:ext cx="4958715" cy="1158359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</p:sp>
      <p:sp>
        <p:nvSpPr>
          <p:cNvPr id="15" name="Text 13"/>
          <p:cNvSpPr/>
          <p:nvPr/>
        </p:nvSpPr>
        <p:spPr>
          <a:xfrm>
            <a:off x="3041571" y="5082540"/>
            <a:ext cx="282654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63233" y="4881086"/>
            <a:ext cx="251293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Sem Customização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863233" y="5315783"/>
            <a:ext cx="430482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aplicava cor, transparência ou piscada.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762744" y="5828943"/>
            <a:ext cx="8063627" cy="11430"/>
          </a:xfrm>
          <a:prstGeom prst="roundRect">
            <a:avLst>
              <a:gd name="adj" fmla="val 738745"/>
            </a:avLst>
          </a:prstGeom>
          <a:solidFill>
            <a:srgbClr val="414677"/>
          </a:solidFill>
          <a:ln/>
        </p:spPr>
      </p:sp>
      <p:sp>
        <p:nvSpPr>
          <p:cNvPr id="19" name="Shape 17"/>
          <p:cNvSpPr/>
          <p:nvPr/>
        </p:nvSpPr>
        <p:spPr>
          <a:xfrm>
            <a:off x="703540" y="5938957"/>
            <a:ext cx="6611660" cy="1158359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</p:sp>
      <p:sp>
        <p:nvSpPr>
          <p:cNvPr id="20" name="Text 18"/>
          <p:cNvSpPr/>
          <p:nvPr/>
        </p:nvSpPr>
        <p:spPr>
          <a:xfrm>
            <a:off x="3867983" y="6341388"/>
            <a:ext cx="282654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16177" y="6139934"/>
            <a:ext cx="251293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Estilo Clássico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516177" y="6574631"/>
            <a:ext cx="4148257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Funcionamento 100% tradicional e direto.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3540" y="7323415"/>
            <a:ext cx="13223319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Era um sistema visual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simples e estático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focado na clareza do jogo.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290" y="478036"/>
            <a:ext cx="8071485" cy="5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Melhorias Aplicadas: Uma Nova Visão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8290" y="1368743"/>
            <a:ext cx="13413819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Transformamos a experiência visual sem interferir na essência do jogo.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8290" y="1842373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282D5E"/>
          </a:solidFill>
          <a:ln/>
        </p:spPr>
      </p:sp>
      <p:sp>
        <p:nvSpPr>
          <p:cNvPr id="5" name="Text 3"/>
          <p:cNvSpPr/>
          <p:nvPr/>
        </p:nvSpPr>
        <p:spPr>
          <a:xfrm>
            <a:off x="825579" y="2200870"/>
            <a:ext cx="26062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477208" y="2016085"/>
            <a:ext cx="217265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Pac-Man Azul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77208" y="2391847"/>
            <a:ext cx="1254490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toque moderno e distintivo.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290" y="3058954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282D5E"/>
          </a:solidFill>
          <a:ln/>
        </p:spPr>
      </p:sp>
      <p:sp>
        <p:nvSpPr>
          <p:cNvPr id="9" name="Text 7"/>
          <p:cNvSpPr/>
          <p:nvPr/>
        </p:nvSpPr>
        <p:spPr>
          <a:xfrm>
            <a:off x="825579" y="3417451"/>
            <a:ext cx="26062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477208" y="3232666"/>
            <a:ext cx="2226231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Fantasmas Piscando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77208" y="3608427"/>
            <a:ext cx="1254490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Dinamismo constante e intrigante.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8290" y="4275534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282D5E"/>
          </a:solidFill>
          <a:ln/>
        </p:spPr>
      </p:sp>
      <p:sp>
        <p:nvSpPr>
          <p:cNvPr id="13" name="Text 11"/>
          <p:cNvSpPr/>
          <p:nvPr/>
        </p:nvSpPr>
        <p:spPr>
          <a:xfrm>
            <a:off x="825579" y="4634032"/>
            <a:ext cx="26062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477208" y="4449247"/>
            <a:ext cx="217265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Transparência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77208" y="4825008"/>
            <a:ext cx="1254490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Realismo etéreo para os adversários.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290" y="5492115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282D5E"/>
          </a:solidFill>
          <a:ln/>
        </p:spPr>
      </p:sp>
      <p:sp>
        <p:nvSpPr>
          <p:cNvPr id="17" name="Text 15"/>
          <p:cNvSpPr/>
          <p:nvPr/>
        </p:nvSpPr>
        <p:spPr>
          <a:xfrm>
            <a:off x="825579" y="5850612"/>
            <a:ext cx="26062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477208" y="5665827"/>
            <a:ext cx="217265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Estética Pura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77208" y="6041588"/>
            <a:ext cx="1254490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Efeitos visuais sem alterar o gameplay.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8290" y="6708696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282D5E"/>
          </a:solidFill>
          <a:ln/>
        </p:spPr>
      </p:sp>
      <p:sp>
        <p:nvSpPr>
          <p:cNvPr id="21" name="Text 19"/>
          <p:cNvSpPr/>
          <p:nvPr/>
        </p:nvSpPr>
        <p:spPr>
          <a:xfrm>
            <a:off x="825579" y="7067193"/>
            <a:ext cx="26062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5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477208" y="6882408"/>
            <a:ext cx="2430661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Renderização Modular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77208" y="7258169"/>
            <a:ext cx="1254490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 limpo e fácil de expandir.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831" y="435888"/>
            <a:ext cx="7796451" cy="49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Pac-Man Azul Claro: Um Brilho Moderno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4831" y="1248251"/>
            <a:ext cx="13520737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aplicação de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ColorAdjust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foi a chave para renovar o visual do Pac-Man, mantendo a integridade do sprite original.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4831" y="1822609"/>
            <a:ext cx="6567011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Hue Alterado: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um tom azul vibrante.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4831" y="2131576"/>
            <a:ext cx="6567011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Saturação Aumentada: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Intensificando a cor.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4831" y="2440543"/>
            <a:ext cx="6567011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 Brilho: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Adicionando destaque sutil.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4831" y="2836664"/>
            <a:ext cx="6567011" cy="5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efeito é aplicado apenas durante o desenho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garantindo que o sprite original permaneça inalterado. É um pós-processamento puramente visual.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177" y="1858208"/>
            <a:ext cx="6567011" cy="65670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4831" y="8781693"/>
            <a:ext cx="13520737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Essa técnica nos permitiu um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437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preciso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sobre a aparência, oferecendo uma customização eficaz e não destrutiva.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568" y="430292"/>
            <a:ext cx="10549771" cy="488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Fantasmas Semi-Transparentes: A Essência do "Ghost"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7568" y="1232178"/>
            <a:ext cx="13535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dar um toque mais etéreo aos fantasmas, implementamos uma transparência sutil, mas impactante.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7568" y="1799153"/>
            <a:ext cx="6576774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solução foi direta e poderosa: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gc.setGlobalAlpha(0.5);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7568" y="2197775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Efeito "Ghost Real":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Aumenta a imersão visual.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7568" y="2502694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Animações Preservadas: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Mantém a fluidez dos movimentos.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7568" y="280761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Colisões Afetadas: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lógica do jogo permanece intacta.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7568" y="311253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 no Fantasma: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Apenas o fantasma adquire transparência.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677" y="1834396"/>
            <a:ext cx="6576774" cy="65767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7568" y="8763119"/>
            <a:ext cx="13535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mudança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911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simples e eficiente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reforça a natureza espectral dos inimigos.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0918" y="628531"/>
            <a:ext cx="7782163" cy="1823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Piscada Contínua dos Fantasmas: Dinamismo Incessante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80918" y="2744152"/>
            <a:ext cx="7782163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fantasmas agora apresentam um efeito de piscada constante, tornando-os mais presentes e ameaçadores, independente do estado de "frightened".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6770" y="3585448"/>
            <a:ext cx="22860" cy="3174206"/>
          </a:xfrm>
          <a:prstGeom prst="roundRect">
            <a:avLst>
              <a:gd name="adj" fmla="val 357455"/>
            </a:avLst>
          </a:prstGeom>
          <a:solidFill>
            <a:srgbClr val="414677"/>
          </a:solidFill>
          <a:ln/>
        </p:spPr>
      </p:sp>
      <p:sp>
        <p:nvSpPr>
          <p:cNvPr id="6" name="Shape 3"/>
          <p:cNvSpPr/>
          <p:nvPr/>
        </p:nvSpPr>
        <p:spPr>
          <a:xfrm>
            <a:off x="803910" y="3792855"/>
            <a:ext cx="389096" cy="22860"/>
          </a:xfrm>
          <a:prstGeom prst="roundRect">
            <a:avLst>
              <a:gd name="adj" fmla="val 357455"/>
            </a:avLst>
          </a:prstGeom>
          <a:solidFill>
            <a:srgbClr val="414677"/>
          </a:solidFill>
          <a:ln/>
        </p:spPr>
      </p:sp>
      <p:sp>
        <p:nvSpPr>
          <p:cNvPr id="7" name="Shape 4"/>
          <p:cNvSpPr/>
          <p:nvPr/>
        </p:nvSpPr>
        <p:spPr>
          <a:xfrm>
            <a:off x="753844" y="3731359"/>
            <a:ext cx="145852" cy="145852"/>
          </a:xfrm>
          <a:prstGeom prst="roundRect">
            <a:avLst>
              <a:gd name="adj" fmla="val 313468"/>
            </a:avLst>
          </a:prstGeom>
          <a:solidFill>
            <a:srgbClr val="EEAEF6"/>
          </a:solidFill>
          <a:ln/>
        </p:spPr>
      </p:sp>
      <p:sp>
        <p:nvSpPr>
          <p:cNvPr id="8" name="Text 5"/>
          <p:cNvSpPr/>
          <p:nvPr/>
        </p:nvSpPr>
        <p:spPr>
          <a:xfrm>
            <a:off x="1604963" y="3652242"/>
            <a:ext cx="2431971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Baseado no Tempo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04963" y="4072890"/>
            <a:ext cx="6858119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Alterna entre sprite normal e "flashing" usando o tempo do sistema.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3910" y="4980623"/>
            <a:ext cx="389096" cy="22860"/>
          </a:xfrm>
          <a:prstGeom prst="roundRect">
            <a:avLst>
              <a:gd name="adj" fmla="val 357455"/>
            </a:avLst>
          </a:prstGeom>
          <a:solidFill>
            <a:srgbClr val="414677"/>
          </a:solidFill>
          <a:ln/>
        </p:spPr>
      </p:sp>
      <p:sp>
        <p:nvSpPr>
          <p:cNvPr id="11" name="Shape 8"/>
          <p:cNvSpPr/>
          <p:nvPr/>
        </p:nvSpPr>
        <p:spPr>
          <a:xfrm>
            <a:off x="753844" y="4919127"/>
            <a:ext cx="145852" cy="145852"/>
          </a:xfrm>
          <a:prstGeom prst="roundRect">
            <a:avLst>
              <a:gd name="adj" fmla="val 313468"/>
            </a:avLst>
          </a:prstGeom>
          <a:solidFill>
            <a:srgbClr val="EEAEF6"/>
          </a:solidFill>
          <a:ln/>
        </p:spPr>
      </p:sp>
      <p:sp>
        <p:nvSpPr>
          <p:cNvPr id="12" name="Text 9"/>
          <p:cNvSpPr/>
          <p:nvPr/>
        </p:nvSpPr>
        <p:spPr>
          <a:xfrm>
            <a:off x="1604963" y="4840010"/>
            <a:ext cx="2659380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Frequência Constante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604963" y="5260658"/>
            <a:ext cx="6858119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cada </a:t>
            </a:r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ms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um efeito visual marcante.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3910" y="6168390"/>
            <a:ext cx="389096" cy="22860"/>
          </a:xfrm>
          <a:prstGeom prst="roundRect">
            <a:avLst>
              <a:gd name="adj" fmla="val 357455"/>
            </a:avLst>
          </a:prstGeom>
          <a:solidFill>
            <a:srgbClr val="414677"/>
          </a:solidFill>
          <a:ln/>
        </p:spPr>
      </p:sp>
      <p:sp>
        <p:nvSpPr>
          <p:cNvPr id="15" name="Shape 12"/>
          <p:cNvSpPr/>
          <p:nvPr/>
        </p:nvSpPr>
        <p:spPr>
          <a:xfrm>
            <a:off x="753844" y="6106894"/>
            <a:ext cx="145852" cy="145852"/>
          </a:xfrm>
          <a:prstGeom prst="roundRect">
            <a:avLst>
              <a:gd name="adj" fmla="val 313468"/>
            </a:avLst>
          </a:prstGeom>
          <a:solidFill>
            <a:srgbClr val="EEAEF6"/>
          </a:solidFill>
          <a:ln/>
        </p:spPr>
      </p:sp>
      <p:sp>
        <p:nvSpPr>
          <p:cNvPr id="16" name="Text 13"/>
          <p:cNvSpPr/>
          <p:nvPr/>
        </p:nvSpPr>
        <p:spPr>
          <a:xfrm>
            <a:off x="1604963" y="6027777"/>
            <a:ext cx="2787491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Independente do Modo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604963" y="6448425"/>
            <a:ext cx="6858119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 continuamente, sem depender do modo "frightened".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0918" y="6978491"/>
            <a:ext cx="7782163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Isso torna os fantasmas visualmente mais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vivos e dinâmicos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adicionando uma camada extra de tensão ao jogo.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6539"/>
            <a:ext cx="122631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Como Renderizamos Agora: O Novo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894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processo de renderização foi aprimorado para integrar os novos efeitos visuais de forma coesa e eficiente, sem impactar a jogabilidade.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299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84947"/>
            <a:ext cx="4196358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559254"/>
            <a:ext cx="29369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Identificação do Ator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04967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 se é Pac-Man, fantasma ou bônus.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30299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384947"/>
            <a:ext cx="4196358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3559254"/>
            <a:ext cx="28453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Aplicação de Efeitos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404967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 transparência ou cor, se necessário.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30299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384947"/>
            <a:ext cx="4196358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3559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Desenho Base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404967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Renderiza o bônus ou as animações normais.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527357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701665"/>
            <a:ext cx="29685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Alternância de Sprite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19208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fantasmas, alterna entre sprites piscantes.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527357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5701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Remoção de Efeitos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28548" y="619208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Limpa o GraphicsContext para o próximo ciclo.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9801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pipeline garante que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apenas a aparência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seja alterada, preservando a IA e a física do jogo.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154" y="813673"/>
            <a:ext cx="12464296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Conclusão: Visual Renovado, Jogabilidade Preservada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154" y="1781770"/>
            <a:ext cx="13308092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Nossas modificações provam que é possível modernizar um clássico sem comprometer sua essência.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154" y="2296597"/>
            <a:ext cx="4310063" cy="2146459"/>
          </a:xfrm>
          <a:prstGeom prst="roundRect">
            <a:avLst>
              <a:gd name="adj" fmla="val 3697"/>
            </a:avLst>
          </a:prstGeom>
          <a:solidFill>
            <a:srgbClr val="282D5E"/>
          </a:solidFill>
          <a:ln/>
        </p:spPr>
      </p:sp>
      <p:sp>
        <p:nvSpPr>
          <p:cNvPr id="5" name="Shape 3"/>
          <p:cNvSpPr/>
          <p:nvPr/>
        </p:nvSpPr>
        <p:spPr>
          <a:xfrm>
            <a:off x="849987" y="2485430"/>
            <a:ext cx="566738" cy="566738"/>
          </a:xfrm>
          <a:prstGeom prst="roundRect">
            <a:avLst>
              <a:gd name="adj" fmla="val 16132826"/>
            </a:avLst>
          </a:prstGeom>
          <a:solidFill>
            <a:srgbClr val="EEAE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2641163"/>
            <a:ext cx="255032" cy="255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9987" y="3241000"/>
            <a:ext cx="24462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Modernizam o Visual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49987" y="3649623"/>
            <a:ext cx="3932396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Pac-Man atualizado para o presente.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60050" y="2296597"/>
            <a:ext cx="4310182" cy="2146459"/>
          </a:xfrm>
          <a:prstGeom prst="roundRect">
            <a:avLst>
              <a:gd name="adj" fmla="val 3697"/>
            </a:avLst>
          </a:prstGeom>
          <a:solidFill>
            <a:srgbClr val="282D5E"/>
          </a:solidFill>
          <a:ln/>
        </p:spPr>
      </p:sp>
      <p:sp>
        <p:nvSpPr>
          <p:cNvPr id="10" name="Shape 7"/>
          <p:cNvSpPr/>
          <p:nvPr/>
        </p:nvSpPr>
        <p:spPr>
          <a:xfrm>
            <a:off x="5348883" y="2485430"/>
            <a:ext cx="566738" cy="566738"/>
          </a:xfrm>
          <a:prstGeom prst="roundRect">
            <a:avLst>
              <a:gd name="adj" fmla="val 16132826"/>
            </a:avLst>
          </a:prstGeom>
          <a:solidFill>
            <a:srgbClr val="EEAE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4736" y="2641163"/>
            <a:ext cx="255032" cy="255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8883" y="3241000"/>
            <a:ext cx="23616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100% Clássico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348883" y="3649623"/>
            <a:ext cx="3932515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jogabilidade intocada que todos amam.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9659064" y="2296597"/>
            <a:ext cx="4310182" cy="2146459"/>
          </a:xfrm>
          <a:prstGeom prst="roundRect">
            <a:avLst>
              <a:gd name="adj" fmla="val 3697"/>
            </a:avLst>
          </a:prstGeom>
          <a:solidFill>
            <a:srgbClr val="282D5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47898" y="2485430"/>
            <a:ext cx="566738" cy="566738"/>
          </a:xfrm>
          <a:prstGeom prst="roundRect">
            <a:avLst>
              <a:gd name="adj" fmla="val 16132826"/>
            </a:avLst>
          </a:prstGeom>
          <a:solidFill>
            <a:srgbClr val="EEAE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03750" y="2641163"/>
            <a:ext cx="255032" cy="255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7898" y="3241000"/>
            <a:ext cx="23616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Mais Estilizado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847898" y="3649623"/>
            <a:ext cx="3932515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Adição de um toque artístico e único.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61154" y="4631888"/>
            <a:ext cx="6559629" cy="1844159"/>
          </a:xfrm>
          <a:prstGeom prst="roundRect">
            <a:avLst>
              <a:gd name="adj" fmla="val 4303"/>
            </a:avLst>
          </a:prstGeom>
          <a:solidFill>
            <a:srgbClr val="282D5E"/>
          </a:solidFill>
          <a:ln/>
        </p:spPr>
      </p:sp>
      <p:sp>
        <p:nvSpPr>
          <p:cNvPr id="20" name="Shape 15"/>
          <p:cNvSpPr/>
          <p:nvPr/>
        </p:nvSpPr>
        <p:spPr>
          <a:xfrm>
            <a:off x="849987" y="4820722"/>
            <a:ext cx="566738" cy="566738"/>
          </a:xfrm>
          <a:prstGeom prst="roundRect">
            <a:avLst>
              <a:gd name="adj" fmla="val 16132826"/>
            </a:avLst>
          </a:prstGeom>
          <a:solidFill>
            <a:srgbClr val="EEAE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840" y="4976455"/>
            <a:ext cx="255032" cy="255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9987" y="5576292"/>
            <a:ext cx="26106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Modificações Isoladas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849987" y="5984915"/>
            <a:ext cx="6181963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Fáceis de ajustar e expandir.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7409617" y="4631888"/>
            <a:ext cx="6559629" cy="1844159"/>
          </a:xfrm>
          <a:prstGeom prst="roundRect">
            <a:avLst>
              <a:gd name="adj" fmla="val 4303"/>
            </a:avLst>
          </a:prstGeom>
          <a:solidFill>
            <a:srgbClr val="282D5E"/>
          </a:solidFill>
          <a:ln/>
        </p:spPr>
      </p:sp>
      <p:sp>
        <p:nvSpPr>
          <p:cNvPr id="25" name="Shape 19"/>
          <p:cNvSpPr/>
          <p:nvPr/>
        </p:nvSpPr>
        <p:spPr>
          <a:xfrm>
            <a:off x="7598450" y="4820722"/>
            <a:ext cx="566738" cy="566738"/>
          </a:xfrm>
          <a:prstGeom prst="roundRect">
            <a:avLst>
              <a:gd name="adj" fmla="val 16132826"/>
            </a:avLst>
          </a:prstGeom>
          <a:solidFill>
            <a:srgbClr val="EEAE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54303" y="4976455"/>
            <a:ext cx="255032" cy="255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98450" y="5576292"/>
            <a:ext cx="23616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Base para o Futuro</a:t>
            </a:r>
            <a:endParaRPr lang="en-US" sz="1850" dirty="0"/>
          </a:p>
        </p:txBody>
      </p:sp>
      <p:sp>
        <p:nvSpPr>
          <p:cNvPr id="28" name="Text 21"/>
          <p:cNvSpPr/>
          <p:nvPr/>
        </p:nvSpPr>
        <p:spPr>
          <a:xfrm>
            <a:off x="7598450" y="5984915"/>
            <a:ext cx="6181963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Pronto para modos Neon e Dark.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44523" y="6901101"/>
            <a:ext cx="13024723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renovado. Jogabilidade preservada.</a:t>
            </a:r>
            <a:endParaRPr lang="en-US" sz="1450" dirty="0"/>
          </a:p>
        </p:txBody>
      </p:sp>
      <p:sp>
        <p:nvSpPr>
          <p:cNvPr id="30" name="Shape 23"/>
          <p:cNvSpPr/>
          <p:nvPr/>
        </p:nvSpPr>
        <p:spPr>
          <a:xfrm>
            <a:off x="661154" y="6688574"/>
            <a:ext cx="22860" cy="727353"/>
          </a:xfrm>
          <a:prstGeom prst="rect">
            <a:avLst/>
          </a:prstGeom>
          <a:solidFill>
            <a:srgbClr val="EEAE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2025-11-24T03:02:26Z</dcterms:created>
  <dcterms:modified xsi:type="dcterms:W3CDTF">2025-11-24T03:02:26Z</dcterms:modified>
</cp:coreProperties>
</file>